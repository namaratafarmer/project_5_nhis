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rata Chirag" userId="95721d6f6e6b6b94" providerId="LiveId" clId="{4790AC98-7CAE-4AAB-AE53-7A479A001FBE}"/>
    <pc:docChg chg="custSel delSld modSld">
      <pc:chgData name="Namrata Chirag" userId="95721d6f6e6b6b94" providerId="LiveId" clId="{4790AC98-7CAE-4AAB-AE53-7A479A001FBE}" dt="2026-07-06T14:14:21.413" v="254" actId="1076"/>
      <pc:docMkLst>
        <pc:docMk/>
      </pc:docMkLst>
      <pc:sldChg chg="delSp modSp mod">
        <pc:chgData name="Namrata Chirag" userId="95721d6f6e6b6b94" providerId="LiveId" clId="{4790AC98-7CAE-4AAB-AE53-7A479A001FBE}" dt="2026-07-03T09:11:01.803" v="10" actId="403"/>
        <pc:sldMkLst>
          <pc:docMk/>
          <pc:sldMk cId="0" sldId="256"/>
        </pc:sldMkLst>
        <pc:spChg chg="mod">
          <ac:chgData name="Namrata Chirag" userId="95721d6f6e6b6b94" providerId="LiveId" clId="{4790AC98-7CAE-4AAB-AE53-7A479A001FBE}" dt="2026-07-03T09:10:07.052" v="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mrata Chirag" userId="95721d6f6e6b6b94" providerId="LiveId" clId="{4790AC98-7CAE-4AAB-AE53-7A479A001FBE}" dt="2026-07-03T09:10:01.339" v="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mrata Chirag" userId="95721d6f6e6b6b94" providerId="LiveId" clId="{4790AC98-7CAE-4AAB-AE53-7A479A001FBE}" dt="2026-07-03T09:11:01.803" v="10" actId="403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Namrata Chirag" userId="95721d6f6e6b6b94" providerId="LiveId" clId="{4790AC98-7CAE-4AAB-AE53-7A479A001FBE}" dt="2026-07-06T14:07:33.440" v="44" actId="20577"/>
        <pc:sldMkLst>
          <pc:docMk/>
          <pc:sldMk cId="0" sldId="263"/>
        </pc:sldMkLst>
        <pc:spChg chg="mod">
          <ac:chgData name="Namrata Chirag" userId="95721d6f6e6b6b94" providerId="LiveId" clId="{4790AC98-7CAE-4AAB-AE53-7A479A001FBE}" dt="2026-07-06T14:07:33.440" v="44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Namrata Chirag" userId="95721d6f6e6b6b94" providerId="LiveId" clId="{4790AC98-7CAE-4AAB-AE53-7A479A001FBE}" dt="2026-07-06T14:14:21.413" v="254" actId="1076"/>
        <pc:sldMkLst>
          <pc:docMk/>
          <pc:sldMk cId="0" sldId="267"/>
        </pc:sldMkLst>
        <pc:spChg chg="mod">
          <ac:chgData name="Namrata Chirag" userId="95721d6f6e6b6b94" providerId="LiveId" clId="{4790AC98-7CAE-4AAB-AE53-7A479A001FBE}" dt="2026-07-06T14:14:18.527" v="253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Namrata Chirag" userId="95721d6f6e6b6b94" providerId="LiveId" clId="{4790AC98-7CAE-4AAB-AE53-7A479A001FBE}" dt="2026-07-06T14:14:21.413" v="254" actId="1076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del mod">
        <pc:chgData name="Namrata Chirag" userId="95721d6f6e6b6b94" providerId="LiveId" clId="{4790AC98-7CAE-4AAB-AE53-7A479A001FBE}" dt="2026-07-06T14:13:10.240" v="169" actId="47"/>
        <pc:sldMkLst>
          <pc:docMk/>
          <pc:sldMk cId="0" sldId="269"/>
        </pc:sldMkLst>
        <pc:spChg chg="del mod">
          <ac:chgData name="Namrata Chirag" userId="95721d6f6e6b6b94" providerId="LiveId" clId="{4790AC98-7CAE-4AAB-AE53-7A479A001FBE}" dt="2026-07-06T14:13:07.449" v="168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Namrata Chirag" userId="95721d6f6e6b6b94" providerId="LiveId" clId="{4790AC98-7CAE-4AAB-AE53-7A479A001FBE}" dt="2026-07-06T14:12:58.917" v="167" actId="478"/>
          <ac:spMkLst>
            <pc:docMk/>
            <pc:sldMk cId="0" sldId="269"/>
            <ac:spMk id="5" creationId="{00000000-0000-0000-0000-000000000000}"/>
          </ac:spMkLst>
        </pc:spChg>
        <pc:picChg chg="add mod">
          <ac:chgData name="Namrata Chirag" userId="95721d6f6e6b6b94" providerId="LiveId" clId="{4790AC98-7CAE-4AAB-AE53-7A479A001FBE}" dt="2026-07-06T14:12:56.549" v="166" actId="1076"/>
          <ac:picMkLst>
            <pc:docMk/>
            <pc:sldMk cId="0" sldId="269"/>
            <ac:picMk id="27" creationId="{23302CA2-0192-8AA8-96B8-6A1AD6D1928A}"/>
          </ac:picMkLst>
        </pc:picChg>
      </pc:sldChg>
      <pc:sldChg chg="modSp mod">
        <pc:chgData name="Namrata Chirag" userId="95721d6f6e6b6b94" providerId="LiveId" clId="{4790AC98-7CAE-4AAB-AE53-7A479A001FBE}" dt="2026-07-06T14:13:56.627" v="252" actId="6549"/>
        <pc:sldMkLst>
          <pc:docMk/>
          <pc:sldMk cId="0" sldId="270"/>
        </pc:sldMkLst>
        <pc:spChg chg="mod">
          <ac:chgData name="Namrata Chirag" userId="95721d6f6e6b6b94" providerId="LiveId" clId="{4790AC98-7CAE-4AAB-AE53-7A479A001FBE}" dt="2026-07-06T14:13:37.082" v="173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Namrata Chirag" userId="95721d6f6e6b6b94" providerId="LiveId" clId="{4790AC98-7CAE-4AAB-AE53-7A479A001FBE}" dt="2026-07-06T14:13:38.598" v="174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Namrata Chirag" userId="95721d6f6e6b6b94" providerId="LiveId" clId="{4790AC98-7CAE-4AAB-AE53-7A479A001FBE}" dt="2026-07-06T14:13:56.627" v="252" actId="6549"/>
          <ac:spMkLst>
            <pc:docMk/>
            <pc:sldMk cId="0" sldId="270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F3C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0A1F3C"/>
                </a:solidFill>
                <a:latin typeface="Cambria"/>
              </a:rPr>
              <a:t>Top 3 manufacturers (≈90% of identified)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Apple</c:v>
                </c:pt>
                <c:pt idx="1">
                  <c:v>Samsung</c:v>
                </c:pt>
                <c:pt idx="2">
                  <c:v>Huawei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59464</c:v>
                </c:pt>
                <c:pt idx="1">
                  <c:v>40579</c:v>
                </c:pt>
                <c:pt idx="2">
                  <c:v>34366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12-43DC-9BDD-B7575E0B17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C13-4985-B1D6-980567EECA17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13-4985-B1D6-980567EECA17}"/>
              </c:ext>
            </c:extLst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13-4985-B1D6-980567EECA17}"/>
              </c:ext>
            </c:extLst>
          </c:dPt>
          <c:cat>
            <c:strRef>
              <c:f>Sheet1!$A$2:$A$4</c:f>
              <c:strCache>
                <c:ptCount val="3"/>
                <c:pt idx="0">
                  <c:v>Low (75%)</c:v>
                </c:pt>
                <c:pt idx="1">
                  <c:v>Medium (22%)</c:v>
                </c:pt>
                <c:pt idx="2">
                  <c:v>High (3%)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74.7</c:v>
                </c:pt>
                <c:pt idx="1">
                  <c:v>22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13-4985-B1D6-980567EECA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F3C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0A1F3C"/>
                </a:solidFill>
                <a:latin typeface="Cambria"/>
              </a:rPr>
              <a:t>Total traffic by application (trillion bytes)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 (TB)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Gaming</c:v>
                </c:pt>
                <c:pt idx="1">
                  <c:v>Other</c:v>
                </c:pt>
                <c:pt idx="2">
                  <c:v>YouTube</c:v>
                </c:pt>
                <c:pt idx="3">
                  <c:v>Netflix</c:v>
                </c:pt>
                <c:pt idx="4">
                  <c:v>Google</c:v>
                </c:pt>
                <c:pt idx="5">
                  <c:v>Email</c:v>
                </c:pt>
                <c:pt idx="6">
                  <c:v>Social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64.099999999999994</c:v>
                </c:pt>
                <c:pt idx="1">
                  <c:v>64</c:v>
                </c:pt>
                <c:pt idx="2">
                  <c:v>3.4</c:v>
                </c:pt>
                <c:pt idx="3">
                  <c:v>3.4</c:v>
                </c:pt>
                <c:pt idx="4">
                  <c:v>1.2</c:v>
                </c:pt>
                <c:pt idx="5">
                  <c:v>0.34</c:v>
                </c:pt>
                <c:pt idx="6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4-4C68-AD3A-6133B19561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F3C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0A1F3C"/>
                </a:solidFill>
                <a:latin typeface="Cambria"/>
              </a:rPr>
              <a:t>Median throughput by device (kbps)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throughput (kbps)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Huawei router</c:v>
                </c:pt>
                <c:pt idx="1">
                  <c:v>Samsung S8</c:v>
                </c:pt>
                <c:pt idx="2">
                  <c:v>iPhone 7</c:v>
                </c:pt>
                <c:pt idx="3">
                  <c:v>iPhone 8</c:v>
                </c:pt>
                <c:pt idx="4">
                  <c:v>iPhone 6</c:v>
                </c:pt>
                <c:pt idx="5">
                  <c:v>iPhone 6S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19571</c:v>
                </c:pt>
                <c:pt idx="1">
                  <c:v>68</c:v>
                </c:pt>
                <c:pt idx="2">
                  <c:v>58</c:v>
                </c:pt>
                <c:pt idx="3">
                  <c:v>58</c:v>
                </c:pt>
                <c:pt idx="4">
                  <c:v>58</c:v>
                </c:pt>
                <c:pt idx="5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BE-4DEB-BB78-E1C2E3A4C1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D3-431D-B42E-CACF4101087C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D3-431D-B42E-CACF4101087C}"/>
              </c:ext>
            </c:extLst>
          </c:dPt>
          <c:cat>
            <c:strRef>
              <c:f>Sheet1!$A$2:$A$3</c:f>
              <c:strCache>
                <c:ptCount val="2"/>
                <c:pt idx="0">
                  <c:v>Less satisfied (56%)</c:v>
                </c:pt>
                <c:pt idx="1">
                  <c:v>More satisfied (44%)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55.5</c:v>
                </c:pt>
                <c:pt idx="1">
                  <c:v>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D3-431D-B42E-CACF410108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449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201026" y="-22860"/>
            <a:ext cx="2651760" cy="265176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9841106" y="662940"/>
            <a:ext cx="1371600" cy="1371600"/>
          </a:xfrm>
          <a:prstGeom prst="ellipse">
            <a:avLst/>
          </a:prstGeom>
          <a:solidFill>
            <a:srgbClr val="5EEAD4">
              <a:alpha val="8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 TELECOM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Analytics &amp; Acquisition Assessment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behaviour, engagement, experience &amp; satisfaction analysis to inform the buy / sell decision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Namrata Farmer</a:t>
            </a: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 NextHikes IT Solutions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2996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network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high-speed fixed-wireless (home broadband) product sits alongside a very low-speed mobile service.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155448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1874520"/>
            <a:ext cx="685800" cy="6858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02996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Concentrated engagement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6656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of customers are low-engagement; a small 3% power-user group drives disproportionate usage.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34840"/>
            <a:ext cx="685800" cy="6858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59028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80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drives satisfaction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52578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(speed) is a top satisfaction driver — 56% of customers fall in the lower-satisfaction group.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0" y="41148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434840"/>
            <a:ext cx="685800" cy="6858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459028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480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Gaming dominates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766560" y="52578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(plus unclassified 'Other') accounts for ~94% of application traffic; device brand does not drive behaviour.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built on one month of xDR (data session) records, aggregated to the customer level and analysed across four tasks.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148,935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xDR sessions analysed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1488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106,853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488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fields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1488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154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tasks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08760" y="4069080"/>
            <a:ext cx="640080" cy="64008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4215384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580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Overview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1520" y="5257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Handsets, usage &amp; EDA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37560" y="37947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97680" y="4069080"/>
            <a:ext cx="640080" cy="64008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4215384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47472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Engagement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520440" y="5257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frequency, duration, traffic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126480" y="37947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086600" y="4069080"/>
            <a:ext cx="640080" cy="64008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4215384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6364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Experience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309360" y="5257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Throughput, latency, retransmission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915400" y="37947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875520" y="4069080"/>
            <a:ext cx="640080" cy="64008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1824" y="4215384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5256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Satisfaction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098280" y="5257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+ experience scores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USER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Handsets: A Hidden Fixed-Wireless Segment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00200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202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944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263640" y="2514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device is a home router, not a phone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26364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most-used handset is the </a:t>
            </a: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B528S-23A — a 4G LTE fixed-wireless home router</a:t>
            </a: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(19,727 users), with a second router in the top 10. TellCo has a significant home-broadband segment hidden inside its 'handset' data.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7492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8920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recommendation: 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and grow the fixed-wireless home-broadband line as a distinct product; the customer base skews to premium Apple devices plus this router segment.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Is One Dimension, Not Many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20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does not drive usage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data usage is near-identical across every brand and model (~455 MB DL). Whether a customer holds an iPhone, Samsung or Wiko, they use the same amount — segment by behaviour, not device.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920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PCA: one factor explains 71%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37960" y="2514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application types collapse onto a single component (PC1 = 70.7% of variance) where all apps load equally — 'overall usage intensity'. Customers are simply heavy or light users, not app specialists.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8640" y="4297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70.7%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731520" y="5120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app-usage variance captured by a single 'overall usage' dimension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97680" y="3977640"/>
            <a:ext cx="7315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572000" y="42062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72000" y="46634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apps are positively correlated (0.59–0.74) — heavy users use everything more.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means meaningful customer segments come from </a:t>
            </a:r>
            <a:r>
              <a:rPr lang="en-US" sz="1350" b="1" dirty="0">
                <a:solidFill>
                  <a:srgbClr val="0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level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basis for the clustering in Task 2 — not from device or app preference.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Engagement Tiers (k-means, k=3)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4206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691640"/>
            <a:ext cx="6583680" cy="1207008"/>
          </a:xfrm>
          <a:prstGeom prst="roundRect">
            <a:avLst>
              <a:gd name="adj" fmla="val 6061"/>
            </a:avLst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79,847 · 74.7%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2313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session · 0.5 GB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0" y="2313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/ customer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3063240"/>
            <a:ext cx="6583680" cy="1207008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03520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31520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23,457 · 22.0%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0" y="3685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sessions · 1.1 GB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0120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0" y="36850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/ customer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4434840"/>
            <a:ext cx="6583680" cy="1207008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303520" y="4572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315200" y="4617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3,549 · 3.3%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15200" y="5056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sessions · 2.3 GB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60120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01200" y="5056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/ customer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0" y="58521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method confirms k=3 is optimal.  A small 3% power-user group is highly valuable per customer, while the 75% low tier is the largest collective consumer — two distinct strategies.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Gaming Dominates Application Traffic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9164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23760" y="19202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~94%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49808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app traffic is Gaming + unclassified 'Other'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23760" y="388620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160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244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Data-quality flag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98080" y="4709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'Other' (unclassified) is co-largest — nearly half the top traffic is untagged. Gaming is the dominant identifiable activity; the same power-users lead every app.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Two-Tier Network: Broadband vs Mobile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91640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1920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~300×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949440" y="2743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throughput on the fixed-wireless router (~19.6 Mbps) vs phones (~50 kbps)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75120" y="3886200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160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investigation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49440" y="47091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throughput (~50 kbps) is extremely low. This is either a genuine mobile-network limitation  or a measurement artifact — a key due-diligence question.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&amp; Reliability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40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(RTT)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25 ms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customers have good responsiveness; a minority face severe latency (up to 48 s on failing connections). Phones are uniform (~40 ms); the router has slightly higher latency.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057400"/>
            <a:ext cx="777240" cy="7772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40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Retransmission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1772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at zero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half of customers experience no packet loss. Volume is concentrated in the high-throughput router segment — a data-volume effect, not a per-byte quality defect.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057400"/>
            <a:ext cx="777240" cy="7772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402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split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667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Bimodal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66760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distribution has two clear humps — low-speed phone users (~50 kbps) and high-speed router users (~8,000+ kbps) — confirming two distinct experience tiers.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SATISFACTION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= Engagement + Experience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73736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73736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574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82880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R² = 0.64. 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frequency and throughput are the strongest predictors of satisfaction.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846320" y="310896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42900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15000" y="320040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is the sharper divide. 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Satisfied customers score ~6× higher on experience but only ~1.8× on engagement.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4846320" y="448056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0A1F3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84632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15000" y="4572000"/>
            <a:ext cx="5669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Highest-impact lever:  </a:t>
            </a: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network throughput would lift satisfaction across the large under-satisfied majority — directly tied to the mobile-speed question.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Case: Strengths vs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7F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9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(the buy case)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fixed-wireless broadband — genuine ~19.6 Mbps home-internet product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activatable base — 75% low-engagement customers = growth headroom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Identifiable high-value power users (3%) to retain and upsell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demand signal — gaming is the dominant, monetisable data activity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Coherent, single-dimension engagement structure — easy to segment &amp; target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74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(the sell case)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mobile throughput (~50 kbps) — possible major network weakness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 of customers in the lower-satisfaction group — churn risk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highly concentrated — dependent on a small power-user group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~47% of traffic unclassified ('Other') — limited visibility into demand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gaps — download counters don't reconcile; duration anomalies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26746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35340" y="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balanced decision — with one condition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TellCo's value rests on a real strength (fixed-wireless broadband) offset by a real unknown (mobile network quality). The evidence supports acquiring — provided the mobile-throughput question is resolved in diligence.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474720"/>
            <a:ext cx="685800" cy="6858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63016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mobile speed is fixable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14400" y="4937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Attractive buy — grow fixed-wireless, activate the 75% low-engagement base, retain power users.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43400" y="32004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7720" y="3474720"/>
            <a:ext cx="685800" cy="6858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630168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it's a real network limit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617720" y="4937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in significant capex — or reconsider; mobile satisfaction risk is material.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46720" y="32004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3474720"/>
            <a:ext cx="685800" cy="6858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630168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first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321040" y="4937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whether ~50 kbps is genuine or an idle-averaging artifact; investigate the ~47% 'Other' traffic.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Data-Quality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62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647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counters don't reconcile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148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Per-application download bytes sum to ~2× the reported Total DL (variable 1×–87×). Absolute app-download volumes are treated as indicative; totals use the official DL/UL fields.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562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7647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Unclassified 'Other' traffic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040880" y="2148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~47% of application traffic is untagged, limiting precision on what customers actually do with their data.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192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278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 mobile throughput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36118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kbps median is implausibly low for a modern network — likely partly a measurement/idle-averaging effect; flagged for validation, not taken at face value.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06324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1927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2278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Session-duration anomalies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040880" y="36118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total-duration values exceed the calendar month, suggesting overlapping-session summation; duration used as a relative indicator.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8231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6908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Single-month snapshot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32588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reflect one month of data; seasonality and trends over time are not captured.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01488" y="-2286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18524" y="59436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632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 Telecom — User Analytics for the acquisition decision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 aggregated xDR records (one month)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1294</Words>
  <Application>Microsoft Office PowerPoint</Application>
  <PresentationFormat>Widescreen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TellCo Telecom — User Analytics</dc:title>
  <dc:subject>PptxGenJS Presentation</dc:subject>
  <dc:creator>TellCo Analysis</dc:creator>
  <cp:lastModifiedBy>Namrata Chirag</cp:lastModifiedBy>
  <cp:revision>1</cp:revision>
  <dcterms:created xsi:type="dcterms:W3CDTF">2026-07-02T04:25:13Z</dcterms:created>
  <dcterms:modified xsi:type="dcterms:W3CDTF">2026-07-06T14:14:28Z</dcterms:modified>
</cp:coreProperties>
</file>